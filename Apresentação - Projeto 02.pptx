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9" r:id="rId5"/>
    <p:sldId id="263" r:id="rId6"/>
    <p:sldId id="275" r:id="rId7"/>
    <p:sldId id="274" r:id="rId8"/>
    <p:sldId id="265" r:id="rId9"/>
    <p:sldId id="270" r:id="rId10"/>
    <p:sldId id="272" r:id="rId11"/>
    <p:sldId id="271" r:id="rId12"/>
    <p:sldId id="273" r:id="rId13"/>
    <p:sldId id="266" r:id="rId14"/>
    <p:sldId id="267" r:id="rId15"/>
    <p:sldId id="268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0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6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3E1EE8-76DB-4C9D-E76A-EDA5BAFFF1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7097B56-75BB-02C0-8ACA-080AB5512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3E5B7C1-0C44-0F84-5D3B-75A96396E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82BCC2F-C71E-3B2B-5048-A057BF39E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8EFABFD-B99F-6362-E7EA-1F8131990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2245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D89E75-2BAB-B31E-411A-A645FF58D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C8BD51-CDBD-BB6B-5D48-B87252DE7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C07F0D-6B44-1902-151C-579B036C3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71D84A7-B803-4108-BE3A-FB4FD24E0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766F98-7A44-F705-E16B-913CF52ED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0824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C89E07-486D-E179-A5DE-0B7DADE53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1FAAA64-DAC2-E525-64AF-88A920D817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5286410-E10E-3C19-EC3A-C95AA5452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9FB8F66-57F8-3619-4138-B5E4616B0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E29D28B-F0C7-FDF1-E887-3DBAF9D41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914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F6FEF2-8CAA-9F4E-CC71-0B84A777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C802D0-7A11-AD58-BE72-3727EFF2C7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75C500F-6726-936B-5CCA-2805709429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5885DC8-8305-BC59-646B-51B49D558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E5EF7A-858C-83B1-8555-CAED90E8E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7F31614-3695-E019-2460-8CEE61084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4868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D30D96-73B7-9B43-1F78-ED34B9BDB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CE66538-C33B-3938-46F9-101A0E9B81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5C60D1B-B8EB-7032-FA30-BB0E54C596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51665E0-AB4F-3E6E-9E84-67F45B1FE0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BC39607-427D-EDEF-D93C-E4EF99EDE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DA846587-9B2F-0B87-5F93-4EA2A9D11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29DEFD6-0AA6-D373-E1DF-D9620C5CE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605E938-5D31-A290-229C-BFEBE10F7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56464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FC93A2-E114-9F68-9835-6B9533585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7FAA048-4014-8AA9-1462-75C42187C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C6AAD80-8ECE-565D-7701-ACD37A6F7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1E448AD-C7A5-2817-1BE4-2B720E384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48990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8CD32D68-F29B-B434-6730-DE8B058C4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BDEAB34-096A-0380-EAA5-DDB33D4A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CA6892-0393-5086-99B6-F573ECB88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4514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86DA79-9220-CDE8-78AA-D4473560B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42D855-8FBF-0D5C-6A76-8A875C338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815D165-3805-FCF0-772B-5648907AB8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6F3D732-2E35-67F0-CF14-992F2E128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9E02716-535B-4B2B-E2FE-C026E04FC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F8E097B-9ACD-8349-E825-288E2AE35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6777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8D5FFD-97E9-E9AA-1FB8-9BA7CB100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86136E1-0097-AAE7-8E91-D081A4A84C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054D5AE-E889-A9E7-5463-507A3482E1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C2B1D83-D617-E25C-21B4-4FEDC471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B8929AD-502F-5A72-1587-D3E957A36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2AC1D5C-C5A6-2807-6633-54B4B575C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187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1CD668-1032-C5E7-4C24-7AD032C6D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BED380E-D885-6A19-9B30-B35B616EF8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DAE0178-7863-BF82-FE6B-A40644EC5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9E0E8FC-D829-5954-867D-29BA91119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821600E-A9A9-8702-7899-12572D78F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9433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570817B-57CA-19DA-6E4D-036D3930F2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116AB09-3BB8-D90C-A6F4-D07B48FC0D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06CA83-9426-8607-9FCD-FEF9005BC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06E84-BC9D-4EE9-9198-D52ADEF0FD9C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5BADB7D-54AB-4BF9-0D31-2E9422D59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6E80AC7-D50C-D16A-4853-215A2C841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66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A046AEA7-8F91-2B24-AFE4-3328F31DC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6BDAA1A-A545-11B8-C56A-C74003A38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6547DAB-0438-9195-D40E-59CD4DAC9B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706E84-BC9D-4EE9-9198-D52ADEF0FD9C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4DFA63-1A11-7A62-1DD7-9B0CBCF409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48DA50-F9C5-6C28-1EEF-74761ED710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598930-2E74-49F4-B223-0264DEA705E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81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candidomor/Mestrado-Algoritimos-Projeto2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candidomor/Mestrado-Algoritimos-Projeto2" TargetMode="External"/><Relationship Id="rId4" Type="http://schemas.openxmlformats.org/officeDocument/2006/relationships/hyperlink" Target="https://www.kaggle.com/code/aravaravind/wb-commodity-price-intelligence-1960-20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Agrupar 14">
            <a:extLst>
              <a:ext uri="{FF2B5EF4-FFF2-40B4-BE49-F238E27FC236}">
                <a16:creationId xmlns:a16="http://schemas.microsoft.com/office/drawing/2014/main" id="{3184CA0B-8E0A-39B7-6823-0C97B424D8AB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9434BECE-5E74-3497-F6CF-669E3E6962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57B448D0-2707-E9F1-2830-4C03C81B50D9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F05C5C81-9B6B-FAC1-6EE7-10EF3F401347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4" name="Imagem 3">
            <a:extLst>
              <a:ext uri="{FF2B5EF4-FFF2-40B4-BE49-F238E27FC236}">
                <a16:creationId xmlns:a16="http://schemas.microsoft.com/office/drawing/2014/main" id="{162E856D-81F6-AF42-AE3A-65AB7D8E5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D624AB8-D923-33C4-9FEE-3D9225E7D8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9079" y="1375084"/>
            <a:ext cx="11506875" cy="3231598"/>
          </a:xfrm>
          <a:ln w="57150">
            <a:solidFill>
              <a:schemeClr val="tx1"/>
            </a:solidFill>
          </a:ln>
        </p:spPr>
        <p:txBody>
          <a:bodyPr>
            <a:normAutofit/>
          </a:bodyPr>
          <a:lstStyle/>
          <a:p>
            <a:br>
              <a:rPr lang="pt-BR" sz="4800" dirty="0"/>
            </a:br>
            <a:br>
              <a:rPr lang="pt-BR" sz="4800" dirty="0"/>
            </a:br>
            <a:br>
              <a:rPr lang="pt-BR" sz="2000" dirty="0"/>
            </a:br>
            <a:endParaRPr lang="pt-BR" sz="48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213BA62-DB81-8DFF-EB44-42442F75D4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9079" y="4826133"/>
            <a:ext cx="9144000" cy="1655762"/>
          </a:xfrm>
        </p:spPr>
        <p:txBody>
          <a:bodyPr>
            <a:normAutofit/>
          </a:bodyPr>
          <a:lstStyle/>
          <a:p>
            <a:pPr algn="l"/>
            <a:r>
              <a:rPr lang="pt-BR" sz="1800" b="1" dirty="0"/>
              <a:t>Professora:</a:t>
            </a:r>
            <a:r>
              <a:rPr lang="pt-BR" sz="1800" dirty="0"/>
              <a:t> Dra. Valéria </a:t>
            </a:r>
            <a:r>
              <a:rPr lang="pt-BR" sz="1800" dirty="0" err="1"/>
              <a:t>Farinazzo</a:t>
            </a:r>
            <a:r>
              <a:rPr lang="pt-BR" sz="1800" dirty="0"/>
              <a:t> Martins</a:t>
            </a:r>
          </a:p>
          <a:p>
            <a:pPr algn="l"/>
            <a:r>
              <a:rPr lang="pt-BR" sz="1800" b="1" dirty="0"/>
              <a:t>Aluno:</a:t>
            </a:r>
            <a:r>
              <a:rPr lang="pt-BR" sz="1800" dirty="0"/>
              <a:t> Cândido Francisco Moreira</a:t>
            </a:r>
          </a:p>
          <a:p>
            <a:pPr algn="l"/>
            <a:r>
              <a:rPr lang="pt-BR" sz="1800" b="1" dirty="0"/>
              <a:t>RA: </a:t>
            </a:r>
            <a:r>
              <a:rPr lang="pt-BR" sz="1800" dirty="0"/>
              <a:t>10779363</a:t>
            </a:r>
            <a:endParaRPr lang="pt-BR" sz="1800" b="0" dirty="0">
              <a:effectLst/>
            </a:endParaRPr>
          </a:p>
          <a:p>
            <a:pPr algn="l"/>
            <a:r>
              <a:rPr lang="pt-BR" sz="1800" b="1" dirty="0"/>
              <a:t>Período:</a:t>
            </a:r>
            <a:r>
              <a:rPr lang="pt-BR" sz="1800" dirty="0"/>
              <a:t> 1º Semestre de 2026</a:t>
            </a:r>
          </a:p>
        </p:txBody>
      </p: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A5598FE3-FC3A-E82C-7FD3-8142C99B0F48}"/>
              </a:ext>
            </a:extLst>
          </p:cNvPr>
          <p:cNvCxnSpPr/>
          <p:nvPr/>
        </p:nvCxnSpPr>
        <p:spPr>
          <a:xfrm>
            <a:off x="3494014" y="3680150"/>
            <a:ext cx="5203971" cy="0"/>
          </a:xfrm>
          <a:prstGeom prst="line">
            <a:avLst/>
          </a:prstGeom>
          <a:ln w="38100">
            <a:solidFill>
              <a:srgbClr val="EA0A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a16:creationId xmlns:a16="http://schemas.microsoft.com/office/drawing/2014/main" id="{4FF7EE39-8406-A3E6-F560-F6B456D1C22B}"/>
              </a:ext>
            </a:extLst>
          </p:cNvPr>
          <p:cNvSpPr txBox="1"/>
          <p:nvPr/>
        </p:nvSpPr>
        <p:spPr>
          <a:xfrm>
            <a:off x="1442906" y="6361801"/>
            <a:ext cx="11671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 Repositório disponível em: </a:t>
            </a:r>
            <a:r>
              <a:rPr lang="pt-BR" dirty="0">
                <a:solidFill>
                  <a:srgbClr val="000000"/>
                </a:solidFill>
                <a:latin typeface="Arial" panose="020B0604020202020204" pitchFamily="34" charset="0"/>
                <a:hlinkClick r:id="rId4"/>
              </a:rPr>
              <a:t>https://github.com/candidomor/Mestrado-Algoritimos-Projeto2</a:t>
            </a:r>
            <a:r>
              <a:rPr lang="pt-BR" dirty="0">
                <a:solidFill>
                  <a:srgbClr val="000000"/>
                </a:solidFill>
                <a:latin typeface="Arial" panose="020B0604020202020204" pitchFamily="34" charset="0"/>
              </a:rPr>
              <a:t>  </a:t>
            </a:r>
            <a:endParaRPr lang="pt-BR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B4BA160-9754-4C63-B35B-56DC8604B978}"/>
              </a:ext>
            </a:extLst>
          </p:cNvPr>
          <p:cNvSpPr txBox="1"/>
          <p:nvPr/>
        </p:nvSpPr>
        <p:spPr>
          <a:xfrm>
            <a:off x="2933219" y="3863229"/>
            <a:ext cx="65585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dirty="0"/>
              <a:t>Mestrado Profissional em Computação Aplicada – Mackenzie</a:t>
            </a:r>
            <a:br>
              <a:rPr lang="pt-BR" sz="1800" dirty="0"/>
            </a:br>
            <a:r>
              <a:rPr lang="pt-BR" sz="1800" dirty="0"/>
              <a:t>Disciplina – Algoritmos e Programação</a:t>
            </a: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A37491D-BC32-1F4A-76EC-691FBF958A9F}"/>
              </a:ext>
            </a:extLst>
          </p:cNvPr>
          <p:cNvSpPr txBox="1"/>
          <p:nvPr/>
        </p:nvSpPr>
        <p:spPr>
          <a:xfrm>
            <a:off x="98157" y="1478888"/>
            <a:ext cx="308916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000" b="1" dirty="0"/>
              <a:t>Projeto 2</a:t>
            </a:r>
            <a:endParaRPr lang="pt-BR" sz="40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A9942D0-AA32-970A-DC52-BD9E3E11211A}"/>
              </a:ext>
            </a:extLst>
          </p:cNvPr>
          <p:cNvSpPr txBox="1"/>
          <p:nvPr/>
        </p:nvSpPr>
        <p:spPr>
          <a:xfrm>
            <a:off x="1411820" y="2287825"/>
            <a:ext cx="960139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1" dirty="0"/>
              <a:t>Análise Experimental de Desempenho entre Árvores de Busca Binária (BST) e AVL com Dados de Commodities</a:t>
            </a:r>
            <a:endParaRPr lang="pt-BR" sz="3200" dirty="0"/>
          </a:p>
        </p:txBody>
      </p:sp>
    </p:spTree>
    <p:extLst>
      <p:ext uri="{BB962C8B-B14F-4D97-AF65-F5344CB8AC3E}">
        <p14:creationId xmlns:p14="http://schemas.microsoft.com/office/powerpoint/2010/main" val="2186919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E3EAA74-90B2-4087-0F4E-7817C0929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749E4C3A-3897-3266-C722-DCC879D9460B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17553A5D-6DBE-29A4-4D54-29D072C29F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3E43AAC-D9FA-3D05-F243-151BE13D753B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DF364850-D584-0DFF-CD3B-EA480C422F17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4312F4E0-DB52-84A2-7087-BC60DFD24D5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49720" y="2107438"/>
            <a:ext cx="1051560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2400" b="1" dirty="0">
                <a:ea typeface="+mj-ea"/>
                <a:cs typeface="+mj-cs"/>
              </a:rPr>
              <a:t>Problema: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dirty="0"/>
              <a:t>A eficiência das estruturas de dados na prática é influenciada não apenas pelo limite matemático teórico, mas pela entropia dos dados de entrada e pelo custo oculto do ambiente de execução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pt-BR" altLang="pt-BR" b="1" dirty="0">
              <a:ea typeface="+mj-ea"/>
              <a:cs typeface="+mj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2400" b="1" dirty="0">
                <a:ea typeface="+mj-ea"/>
                <a:cs typeface="+mj-cs"/>
              </a:rPr>
              <a:t>Objetivo Central: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>
                <a:ea typeface="+mj-ea"/>
                <a:cs typeface="+mj-cs"/>
              </a:rPr>
              <a:t> </a:t>
            </a:r>
            <a:r>
              <a:rPr lang="pt-BR" dirty="0"/>
              <a:t>Executar testes de benchmarking para quantificar o impacto da paralelização e da topologia dos dados sobre o tempo de busca em árvores de pesquisa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pt-BR" altLang="pt-BR" b="1" dirty="0">
              <a:ea typeface="+mj-ea"/>
              <a:cs typeface="+mj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pt-BR" altLang="pt-BR" sz="2400" b="1" dirty="0">
                <a:ea typeface="+mj-ea"/>
                <a:cs typeface="+mj-cs"/>
              </a:rPr>
              <a:t>Algoritmos Avaliados: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>
                <a:ea typeface="+mj-ea"/>
                <a:cs typeface="+mj-cs"/>
              </a:rPr>
              <a:t> </a:t>
            </a:r>
            <a:r>
              <a:rPr lang="pt-BR" dirty="0"/>
              <a:t>Árvore Binária de Busca (BST) e Árvore AVL, submetidas a execução sequencial e </a:t>
            </a:r>
            <a:r>
              <a:rPr lang="pt-BR" dirty="0" err="1"/>
              <a:t>multi-tarefas</a:t>
            </a:r>
            <a:r>
              <a:rPr lang="pt-BR" dirty="0"/>
              <a:t> (</a:t>
            </a:r>
            <a:r>
              <a:rPr lang="pt-BR" dirty="0" err="1"/>
              <a:t>Multiprocessing</a:t>
            </a:r>
            <a:r>
              <a:rPr lang="pt-BR" dirty="0"/>
              <a:t>)</a:t>
            </a:r>
            <a:endParaRPr lang="pt-BR" altLang="pt-BR" dirty="0">
              <a:ea typeface="+mj-ea"/>
              <a:cs typeface="+mj-cs"/>
            </a:endParaRP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B82AFBD7-E4E6-C87F-428F-AE45AA9FD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162843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Projeto 02 – Comparação entre Árvores</a:t>
            </a:r>
          </a:p>
        </p:txBody>
      </p:sp>
    </p:spTree>
    <p:extLst>
      <p:ext uri="{BB962C8B-B14F-4D97-AF65-F5344CB8AC3E}">
        <p14:creationId xmlns:p14="http://schemas.microsoft.com/office/powerpoint/2010/main" val="3391238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F729C-7A7C-2957-DCC6-38F95F5C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55F255F-612F-7918-D8BE-650ED992E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198BEE25-EF3F-9F03-AA02-7A52876240A1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33B38261-3753-7106-FB46-3F8A347BFC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8F064888-9267-B22F-7788-28D5452F3F9A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F28FCA2A-D8FD-A856-29DF-4CC416BB23D7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D36F2968-2E9B-7C5D-412E-EF2E32A103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01540" y="2045882"/>
            <a:ext cx="10515600" cy="46474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Ambiente de Execução: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Python 3.12.4 (</a:t>
            </a:r>
            <a:r>
              <a:rPr kumimoji="0" lang="pt-BR" altLang="pt-B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CPython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 em Windows 11 Pro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dirty="0"/>
              <a:t> </a:t>
            </a:r>
            <a:r>
              <a:rPr lang="pt-BR" dirty="0" err="1"/>
              <a:t>Garbage</a:t>
            </a:r>
            <a:r>
              <a:rPr lang="pt-BR" dirty="0"/>
              <a:t> </a:t>
            </a:r>
            <a:r>
              <a:rPr lang="pt-BR" dirty="0" err="1"/>
              <a:t>Collector</a:t>
            </a:r>
            <a:r>
              <a:rPr lang="pt-BR" dirty="0"/>
              <a:t> desativado nas fases de inserção e busca</a:t>
            </a:r>
            <a:endParaRPr kumimoji="0" lang="pt-BR" alt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Processador i7-14700KF e 32 GB RAM.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Rigor Estatístico: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Medições </a:t>
            </a:r>
            <a:r>
              <a:rPr lang="pt-BR" altLang="pt-BR" sz="2000" dirty="0">
                <a:latin typeface="Google Sans Text"/>
              </a:rPr>
              <a:t>via </a:t>
            </a:r>
            <a:r>
              <a:rPr lang="pt-BR" altLang="pt-BR" sz="2000" dirty="0" err="1">
                <a:latin typeface="Google Sans Text"/>
              </a:rPr>
              <a:t>time.perf_counter</a:t>
            </a:r>
            <a:r>
              <a:rPr lang="pt-BR" altLang="pt-BR" sz="2000" dirty="0">
                <a:latin typeface="Google Sans Text"/>
              </a:rPr>
              <a:t>.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000" dirty="0">
                <a:latin typeface="Google Sans Text"/>
              </a:rPr>
              <a:t> Cada cenário foi executado 5 vezes (k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=5) de forma independente para extração de média e desvio padrão, mitigando ruídos de S.O.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Tamanhos variados de amostra: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10.000, 20.000, 30.000, 40.000 e 49.093 elementos.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Padrões Topológicos (Cenários):</a:t>
            </a: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Estritamente Crescente (Melhor caso).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Estritamente Decrescente (Pior caso).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lang="pt-BR" altLang="pt-BR" sz="2000" dirty="0">
                <a:latin typeface="Google Sans Text"/>
              </a:rPr>
              <a:t>Distribuição Aleatória (Caso médio).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78466375-715D-204D-AC11-D4591CA77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162843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Metodologia Experimental</a:t>
            </a:r>
          </a:p>
        </p:txBody>
      </p:sp>
    </p:spTree>
    <p:extLst>
      <p:ext uri="{BB962C8B-B14F-4D97-AF65-F5344CB8AC3E}">
        <p14:creationId xmlns:p14="http://schemas.microsoft.com/office/powerpoint/2010/main" val="838418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8397B-2B35-7C48-38AE-9BB7F5900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">
            <a:extLst>
              <a:ext uri="{FF2B5EF4-FFF2-40B4-BE49-F238E27FC236}">
                <a16:creationId xmlns:a16="http://schemas.microsoft.com/office/drawing/2014/main" id="{DB8DA7B6-A8F2-2D76-9F77-BED922D1A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262547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Metodologia Experimental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C5BA8F9-8CAB-A9E3-3808-71BDE51006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7A5033F4-E058-EA58-31AF-50DA447B796F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2DD423BE-472E-B737-F226-7FB594203D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53579914-9986-14BB-D8A3-06BAC700FA30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09DAA4EB-5EE6-5020-A6F3-C3E0C1D93E36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F66571FF-2D18-35C6-5AAD-5A0E720085B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01540" y="2488406"/>
            <a:ext cx="10515600" cy="33547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400" b="1" dirty="0">
                <a:latin typeface="Google Sans Text"/>
              </a:rPr>
              <a:t>Estruturas e Algoritmos Avaliados</a:t>
            </a:r>
            <a:r>
              <a:rPr lang="pt-BR" altLang="pt-BR" sz="2400" b="1" dirty="0">
                <a:latin typeface="Google Sans Text"/>
              </a:rPr>
              <a:t>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Árvore Binária de Busca (BST)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Árvore AVL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400" b="1" dirty="0">
                <a:latin typeface="Google Sans Text"/>
              </a:rPr>
              <a:t>Estratégia de Execução e Paralelismo</a:t>
            </a:r>
            <a:r>
              <a:rPr lang="pt-BR" altLang="pt-BR" sz="2400" b="1" dirty="0">
                <a:latin typeface="Google Sans Text"/>
              </a:rPr>
              <a:t>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Execução Sequencial (Single-Thread)</a:t>
            </a:r>
            <a:r>
              <a:rPr lang="pt-BR" altLang="pt-BR" sz="2000" dirty="0">
                <a:latin typeface="Google Sans Text"/>
              </a:rPr>
              <a:t>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Execução </a:t>
            </a:r>
            <a:r>
              <a:rPr lang="pt-BR" sz="2000" dirty="0" err="1">
                <a:latin typeface="Google Sans Text"/>
              </a:rPr>
              <a:t>Multi-tarefas</a:t>
            </a:r>
            <a:r>
              <a:rPr lang="pt-BR" sz="2000" dirty="0">
                <a:latin typeface="Google Sans Text"/>
              </a:rPr>
              <a:t> (</a:t>
            </a:r>
            <a:r>
              <a:rPr lang="pt-BR" sz="2000" dirty="0" err="1">
                <a:latin typeface="Google Sans Text"/>
              </a:rPr>
              <a:t>Multiprocessing</a:t>
            </a:r>
            <a:r>
              <a:rPr lang="pt-BR" sz="2000" dirty="0">
                <a:latin typeface="Google Sans Text"/>
              </a:rPr>
              <a:t> em 4 Cores)</a:t>
            </a:r>
            <a:endParaRPr lang="pt-BR" altLang="pt-BR" sz="2000" dirty="0">
              <a:latin typeface="Google Sans Text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Métricas: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000" dirty="0">
                <a:latin typeface="Google Sans Text"/>
              </a:rPr>
              <a:t> </a:t>
            </a:r>
            <a:r>
              <a:rPr lang="pt-BR" sz="2000" dirty="0">
                <a:latin typeface="Google Sans Text"/>
              </a:rPr>
              <a:t>Tempo absoluto de inserção (em segundos/milissegundos).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Tempo absoluto de busca por chaves específicas.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sz="2000" dirty="0">
                <a:latin typeface="Google Sans Text"/>
              </a:rPr>
              <a:t> Altura final (níveis) gerada para cada árvore nos diferentes cenários.</a:t>
            </a:r>
            <a:endParaRPr lang="pt-BR" altLang="pt-BR" sz="2000" dirty="0"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2150641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2F274-7D61-FEA2-F730-B29648AFA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765B3DD-DA1C-B5CB-C68F-48B3AA3D4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8D982857-8F70-63FC-5BD6-DB9CB7FBB264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FE0AAC0C-5289-5051-C32C-A45289FF25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4D5371C-426B-4954-61F0-83357C82679D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1758C4E0-2FFC-90A1-462E-6D16E40D2FFC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6" name="Título 1">
            <a:extLst>
              <a:ext uri="{FF2B5EF4-FFF2-40B4-BE49-F238E27FC236}">
                <a16:creationId xmlns:a16="http://schemas.microsoft.com/office/drawing/2014/main" id="{F32372FA-A117-4A4C-2F89-FA4EAE1A5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479" y="902711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Resultados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B18DCAE-EB75-C974-1E1A-7624CD6530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701" y="1844899"/>
            <a:ext cx="3600000" cy="2298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CB6FE74-12B9-1DC2-EC20-95DF2B1F60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9821" y="1835262"/>
            <a:ext cx="3600000" cy="2284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20EB8D4-5927-8914-6A03-B8E32C396F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553" y="1825625"/>
            <a:ext cx="3600000" cy="229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810CA23C-854E-32DA-D704-79EFB6A422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701" y="4286729"/>
            <a:ext cx="3600000" cy="230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6A279C26-759A-BA26-C40B-F1ACBCCB3D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553" y="4286729"/>
            <a:ext cx="3600000" cy="2303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415A2C7-F880-1B5A-D8C4-E9727A9D5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9821" y="4292987"/>
            <a:ext cx="3600000" cy="230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92795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0AC39-2646-0275-BFE4-EBD06859F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49CB1AB-0EE3-3FAC-5F13-1F36CA6C7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CFDE33FD-59B2-1EA0-3AA2-9FC3F61F27DF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18A75F52-7FA1-E615-189F-5CBFA6B223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CDB7D207-DC0F-F3EB-0223-44ABE0E50EE1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ABB87BB6-6783-DB32-9C97-2F23747E5B21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3" name="Imagem 2">
            <a:extLst>
              <a:ext uri="{FF2B5EF4-FFF2-40B4-BE49-F238E27FC236}">
                <a16:creationId xmlns:a16="http://schemas.microsoft.com/office/drawing/2014/main" id="{C827EB39-010F-3317-D1A0-1405B5DA82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441" y="1694171"/>
            <a:ext cx="8334423" cy="4861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22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269BE-EF8D-C334-38C6-00ED357D0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605649D-38D0-0BDD-01BA-2FF51DCF4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BAC80D2C-41B7-7489-5698-2DFF33C7604E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97C84EFA-3A6A-B9AF-2BF7-9C370AE3DC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B12DB201-EEFE-5031-1873-679B79066016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6ABB8F99-FC95-8672-996A-A758F5C68F91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2" name="Imagem 11">
            <a:extLst>
              <a:ext uri="{FF2B5EF4-FFF2-40B4-BE49-F238E27FC236}">
                <a16:creationId xmlns:a16="http://schemas.microsoft.com/office/drawing/2014/main" id="{E7B8E890-F0FD-E4B9-BFE1-3F0DB0E053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2393" y="1548498"/>
            <a:ext cx="8216261" cy="492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757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A95F9-8B61-9971-ADF2-9C86780D1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FE55F52-C509-2EA3-5625-FD121F41D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552CBC2D-515E-F04E-8C4A-7FF25C61C35B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A9DAE172-1ED8-A55C-48B3-205688F702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C777228E-EC08-1695-9B02-D2BC45EB84D6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AE8445B0-C545-22B0-6C1C-BDC293C03599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F5941C80-7D64-E605-2A84-05CE37AC00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75630" y="2265589"/>
            <a:ext cx="10515600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400" b="1" dirty="0"/>
              <a:t>O( log n)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/>
              <a:t> Estável e rápida em núcleo único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400" b="1" dirty="0">
                <a:latin typeface="Google Sans Text"/>
              </a:rPr>
              <a:t>Paradoxo do </a:t>
            </a:r>
            <a:r>
              <a:rPr lang="pt-BR" sz="2400" b="1" dirty="0" err="1">
                <a:latin typeface="Google Sans Text"/>
              </a:rPr>
              <a:t>Multiprocessing</a:t>
            </a:r>
            <a:r>
              <a:rPr lang="pt-BR" sz="2400" b="1" dirty="0">
                <a:latin typeface="Google Sans Text"/>
              </a:rPr>
              <a:t> (4 núcleos)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000" b="1" dirty="0">
                <a:latin typeface="Google Sans Text"/>
              </a:rPr>
              <a:t> </a:t>
            </a:r>
            <a:r>
              <a:rPr lang="pt-BR" dirty="0"/>
              <a:t>+1116% de tempo</a:t>
            </a:r>
            <a:endParaRPr lang="pt-BR" altLang="pt-BR" sz="2000" b="1" dirty="0">
              <a:latin typeface="Google Sans Text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/>
              <a:t> </a:t>
            </a:r>
            <a:r>
              <a:rPr lang="pt-BR" altLang="pt-BR" b="1" dirty="0"/>
              <a:t>Custo Arquitetural: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dirty="0"/>
              <a:t> Serialização os objetos na memória (</a:t>
            </a:r>
            <a:r>
              <a:rPr lang="pt-BR" b="1" dirty="0" err="1"/>
              <a:t>Pickling</a:t>
            </a:r>
            <a:r>
              <a:rPr lang="pt-BR" dirty="0"/>
              <a:t>)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dirty="0"/>
              <a:t> Atraso da Comunicação </a:t>
            </a:r>
            <a:r>
              <a:rPr lang="pt-BR" dirty="0" err="1"/>
              <a:t>Inter-Processos</a:t>
            </a:r>
            <a:r>
              <a:rPr lang="pt-BR" dirty="0"/>
              <a:t> (</a:t>
            </a:r>
            <a:r>
              <a:rPr lang="pt-BR" b="1" dirty="0"/>
              <a:t>IPC Delay)</a:t>
            </a:r>
            <a:endParaRPr kumimoji="0" lang="pt-BR" altLang="pt-B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4FD7F5B0-0E32-0BA5-2EAD-985228D47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162843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Árvore AVL e o Gargalo do Paralelismo</a:t>
            </a:r>
          </a:p>
        </p:txBody>
      </p:sp>
    </p:spTree>
    <p:extLst>
      <p:ext uri="{BB962C8B-B14F-4D97-AF65-F5344CB8AC3E}">
        <p14:creationId xmlns:p14="http://schemas.microsoft.com/office/powerpoint/2010/main" val="32094904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4B671-FC38-2847-0962-11B4314CA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4A210E9-96BE-6AEF-888F-BC27D770B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6B17D0A5-FA6E-7612-F4EA-B08B6E431FA9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C0A576E9-D595-470C-A40E-2194D8494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6330B5B5-14A9-566F-3454-C956FFC60E8C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484C3208-5267-F20F-10D0-69E389B21B7E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6" name="Título 1">
            <a:extLst>
              <a:ext uri="{FF2B5EF4-FFF2-40B4-BE49-F238E27FC236}">
                <a16:creationId xmlns:a16="http://schemas.microsoft.com/office/drawing/2014/main" id="{3F1C265C-450B-E149-E6F1-8766C3132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162843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A Árvore BST e a Volatilidade Estrutural</a:t>
            </a:r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379EF3F8-DAA6-B371-6726-DD0D059AD3E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75630" y="2382161"/>
            <a:ext cx="10515600" cy="32624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400" b="1" dirty="0"/>
              <a:t> Topologicamente vulnerável a entrada dos dados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pt-BR" altLang="pt-BR" sz="2400" b="1" dirty="0"/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000" b="1" dirty="0"/>
              <a:t> Dados ordenados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/>
              <a:t> “Lista encadeada” - O(N)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000" b="1" dirty="0"/>
              <a:t> Dados aleatórios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/>
              <a:t> Árvore naturalmente balanceada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dirty="0"/>
              <a:t> Superou AVL no processamento sequencial</a:t>
            </a:r>
          </a:p>
          <a:p>
            <a:pPr marL="1371600" lvl="3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000" dirty="0"/>
              <a:t>sem overhead de rotações automáticas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pt-BR" altLang="pt-B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</p:txBody>
      </p:sp>
    </p:spTree>
    <p:extLst>
      <p:ext uri="{BB962C8B-B14F-4D97-AF65-F5344CB8AC3E}">
        <p14:creationId xmlns:p14="http://schemas.microsoft.com/office/powerpoint/2010/main" val="3227322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D6968-D1BD-D846-D23A-50FCDDAE7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CFC88493-C10A-7250-735F-37EEF3C48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728DF6DB-B501-9806-67E4-E0BB759ACAEE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A50E1B48-1B0C-7977-E7F9-C30C75CFE0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872ED2D-680B-EB93-7457-298AE3AF3F37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FB8BD088-4083-E70C-C816-54B2FC26849C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4" name="Imagem 3">
            <a:extLst>
              <a:ext uri="{FF2B5EF4-FFF2-40B4-BE49-F238E27FC236}">
                <a16:creationId xmlns:a16="http://schemas.microsoft.com/office/drawing/2014/main" id="{C8F2E3A9-6A00-7723-8325-D3F7BC4EFD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793" y="1446862"/>
            <a:ext cx="8308213" cy="49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017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AB56E-45F8-002C-6895-A1D702782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4BE9DC2-D9BD-4FE5-EF61-298CA8B4C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6A9D9DD1-C126-C056-51F3-CDC965E03381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71A7E06C-6B60-9659-6479-CE109338F0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2C62645B-79A4-E508-83DF-244F351E9930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96A2DE5A-F4CF-1147-C21C-D11256F68CE3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6946EC03-7C93-E575-9470-A0C6943F788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75630" y="1945926"/>
            <a:ext cx="10515600" cy="37492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pt-BR" altLang="pt-BR" sz="2400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dirty="0"/>
              <a:t> </a:t>
            </a:r>
            <a:r>
              <a:rPr lang="pt-BR" b="1" dirty="0"/>
              <a:t>A notação </a:t>
            </a:r>
            <a:r>
              <a:rPr lang="pt-BR" b="1" dirty="0" err="1"/>
              <a:t>Big-O</a:t>
            </a:r>
            <a:r>
              <a:rPr lang="pt-BR" b="1" dirty="0"/>
              <a:t> é válida como modelo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dirty="0"/>
              <a:t> paralelismo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dirty="0"/>
              <a:t> fatores de implementação (GIL, </a:t>
            </a:r>
            <a:r>
              <a:rPr lang="pt-BR" dirty="0" err="1"/>
              <a:t>Pickling</a:t>
            </a:r>
            <a:r>
              <a:rPr lang="pt-BR" dirty="0"/>
              <a:t>, IPC) criam constantes lineares que dominaram o tempo de execução</a:t>
            </a:r>
          </a:p>
          <a:p>
            <a:pPr lvl="0"/>
            <a:r>
              <a:rPr lang="pt-BR" b="1" dirty="0"/>
              <a:t>Lei de </a:t>
            </a:r>
            <a:r>
              <a:rPr lang="pt-BR" b="1" dirty="0" err="1"/>
              <a:t>Amdahl</a:t>
            </a:r>
            <a:r>
              <a:rPr lang="pt-BR" b="1" dirty="0"/>
              <a:t> na prática:</a:t>
            </a:r>
          </a:p>
          <a:p>
            <a:pPr lvl="1"/>
            <a:r>
              <a:rPr lang="pt-BR" dirty="0"/>
              <a:t> O ganho com múltiplos núcleos</a:t>
            </a:r>
          </a:p>
          <a:p>
            <a:pPr lvl="2"/>
            <a:r>
              <a:rPr lang="pt-BR" dirty="0"/>
              <a:t>Se justificou no pior cenário estrutural da BST (onde a degradação exigia varredura O(N²)</a:t>
            </a:r>
          </a:p>
          <a:p>
            <a:pPr lvl="2"/>
            <a:r>
              <a:rPr lang="pt-BR" dirty="0"/>
              <a:t>Para as operações naturalmente eficientes O(log N), o overhead de coordenação tornou a computação Single-Thread vitoriosa</a:t>
            </a:r>
            <a:endParaRPr kumimoji="0" lang="pt-BR" altLang="pt-B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D5CFFB1F-A2F6-20D4-0145-CE77F864B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162843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Análise Assintótica e a Lei de </a:t>
            </a:r>
            <a:r>
              <a:rPr lang="pt-BR" sz="2800" b="1" dirty="0" err="1">
                <a:latin typeface="+mn-lt"/>
              </a:rPr>
              <a:t>Amdahl</a:t>
            </a:r>
            <a:r>
              <a:rPr lang="pt-BR" sz="2800" b="1" dirty="0"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157952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26252-3887-E671-84FB-B05CBFA52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4821429-7D17-B60B-0676-D97DBFE77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EE1A6FBB-95B2-9910-98A2-FC59A6A9EC59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F8262A45-B6AD-1CE4-0C21-E41906D8F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13830BE5-A639-276B-3A4B-147CE49692A4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94D8BE6D-1ED5-A510-5846-672ECA96F5CF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1" name="Imagem 10">
            <a:extLst>
              <a:ext uri="{FF2B5EF4-FFF2-40B4-BE49-F238E27FC236}">
                <a16:creationId xmlns:a16="http://schemas.microsoft.com/office/drawing/2014/main" id="{1A367ECC-E1B5-8A5E-27E8-74DA447152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2221" y="1611276"/>
            <a:ext cx="8007002" cy="480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697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26535-FB19-E6BD-8062-3639E91C0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CB36F6C-2408-85A8-92D7-513B26AF5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DA60E349-63E6-2906-51B0-425F847DE722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446EB5F3-BBDC-7AAB-B349-2E36C8C159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E2EF6531-15C5-5472-F867-A3F5345ABB81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0389689D-76E3-EA5B-935A-00EA4359E2CF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C52BA4C7-0F04-69A4-07E7-9F09201EF58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050682"/>
            <a:ext cx="10515600" cy="44627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A Invariância do </a:t>
            </a:r>
            <a:r>
              <a:rPr kumimoji="0" lang="pt-BR" altLang="pt-B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Selection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pt-BR" altLang="pt-B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Sort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: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Preso na complexidade </a:t>
            </a:r>
            <a:r>
              <a:rPr kumimoji="0" lang="pt-BR" altLang="pt-BR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ɵ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(n</a:t>
            </a:r>
            <a:r>
              <a:rPr kumimoji="0" lang="pt-BR" altLang="pt-BR" sz="2400" b="0" i="0" u="none" strike="noStrike" cap="none" normalizeH="0" baseline="3000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2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), não se beneficia de vetores ordenados (tempo constante nos 3 cenários)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O Comportamento Adaptativo do </a:t>
            </a:r>
            <a:r>
              <a:rPr kumimoji="0" lang="pt-BR" altLang="pt-B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Insertion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pt-BR" altLang="pt-B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Sort</a:t>
            </a: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: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Atinge o limite inferior garantido de </a:t>
            </a:r>
            <a:r>
              <a:rPr kumimoji="0" lang="el-G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(n) no melhor caso (~0.00s), mas sofre severa punição geométrica no pior caso.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400" b="1" dirty="0">
                <a:latin typeface="Google Sans Text"/>
              </a:rPr>
              <a:t>Overhead do Interpretador </a:t>
            </a:r>
            <a:r>
              <a:rPr lang="pt-BR" altLang="pt-BR" sz="2400" dirty="0">
                <a:latin typeface="Google Sans Text"/>
              </a:rPr>
              <a:t>(</a:t>
            </a:r>
            <a:r>
              <a:rPr lang="pt-BR" altLang="pt-BR" sz="2400" dirty="0" err="1">
                <a:latin typeface="Google Sans Text"/>
              </a:rPr>
              <a:t>CPython</a:t>
            </a:r>
            <a:r>
              <a:rPr lang="pt-BR" altLang="pt-BR" sz="2400" dirty="0">
                <a:latin typeface="Google Sans Text"/>
              </a:rPr>
              <a:t>):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000" dirty="0">
                <a:latin typeface="Google Sans Text"/>
              </a:rPr>
              <a:t> Os tempos brutos refletem não apenas o algoritmo, mas as limitações da linguagem: tipagem dinâmica, custo do </a:t>
            </a:r>
            <a:r>
              <a:rPr lang="pt-BR" altLang="pt-BR" sz="2000" i="1" dirty="0" err="1">
                <a:latin typeface="Google Sans Text"/>
              </a:rPr>
              <a:t>call</a:t>
            </a:r>
            <a:r>
              <a:rPr lang="pt-BR" altLang="pt-BR" sz="2000" i="1" dirty="0">
                <a:latin typeface="Google Sans Text"/>
              </a:rPr>
              <a:t> </a:t>
            </a:r>
            <a:r>
              <a:rPr lang="pt-BR" altLang="pt-BR" sz="2000" i="1" dirty="0" err="1">
                <a:latin typeface="Google Sans Text"/>
              </a:rPr>
              <a:t>stack</a:t>
            </a:r>
            <a:r>
              <a:rPr lang="pt-BR" altLang="pt-BR" sz="2000" i="1" dirty="0">
                <a:latin typeface="Google Sans Text"/>
              </a:rPr>
              <a:t> </a:t>
            </a:r>
            <a:r>
              <a:rPr lang="pt-BR" altLang="pt-BR" sz="2000" dirty="0">
                <a:latin typeface="Google Sans Text"/>
              </a:rPr>
              <a:t>(recursão profunda) e laços interpretados.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pt-BR" sz="2000" dirty="0">
                <a:latin typeface="Google Sans Text"/>
              </a:rPr>
              <a:t> O </a:t>
            </a:r>
            <a:r>
              <a:rPr lang="pt-BR" altLang="pt-BR" sz="2000" dirty="0" err="1">
                <a:latin typeface="Google Sans Text"/>
              </a:rPr>
              <a:t>list.sort</a:t>
            </a:r>
            <a:r>
              <a:rPr lang="pt-BR" altLang="pt-BR" sz="2000" dirty="0">
                <a:latin typeface="Google Sans Text"/>
              </a:rPr>
              <a:t>() nativo (</a:t>
            </a:r>
            <a:r>
              <a:rPr lang="pt-BR" altLang="pt-BR" sz="2000" dirty="0" err="1">
                <a:latin typeface="Google Sans Text"/>
              </a:rPr>
              <a:t>Timsort</a:t>
            </a:r>
            <a:r>
              <a:rPr lang="pt-BR" altLang="pt-BR" sz="2000" dirty="0">
                <a:latin typeface="Google Sans Text"/>
              </a:rPr>
              <a:t>) é exponencialmente mais rápido por ser compilado em C, delegando operações diretamente ao hardware.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6869FB9E-D0C9-D809-850E-B3E4A131F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162843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O Desafio da Busca por Atributos Secundários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986490-0933-6260-C084-393D07EFBE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6158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5068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95F87-6B60-EE45-2914-BAD7CAF0D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B30A8A3-7ADD-27EF-13B1-FF41BB6FE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CF4293E8-8854-17B8-8D27-406A19442340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56DF490E-1459-1718-A3A3-2C295272AE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037CCE3-FCCF-12FF-E95C-10BDAFC4BCE0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837FD02B-D0E3-74AF-79DA-0803F43558A7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3" name="Rectangle 1">
            <a:extLst>
              <a:ext uri="{FF2B5EF4-FFF2-40B4-BE49-F238E27FC236}">
                <a16:creationId xmlns:a16="http://schemas.microsoft.com/office/drawing/2014/main" id="{30424B3E-156F-8EA6-2CA3-BC4E581209A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48959"/>
            <a:ext cx="10515600" cy="39087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Validação Teórica: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Os experimentos corroboram a teoria matemática; algoritmos O(n</a:t>
            </a:r>
            <a:r>
              <a:rPr kumimoji="0" lang="pt-BR" altLang="pt-BR" sz="2400" b="0" i="0" u="none" strike="noStrike" cap="none" normalizeH="0" baseline="3000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2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) sofrem degradação drástica em instâncias massivas.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 Escolha Pragmática: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A decisão arquitetural não deve se basear apenas na classe </a:t>
            </a:r>
            <a:r>
              <a:rPr kumimoji="0" lang="pt-BR" altLang="pt-B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Big-O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, mas exige a ponderação de: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/>
            </a:pPr>
            <a:r>
              <a:rPr lang="pt-BR" altLang="pt-BR" sz="2000" b="1" dirty="0">
                <a:latin typeface="Google Sans Text"/>
              </a:rPr>
              <a:t>Estabilidade</a:t>
            </a:r>
            <a:r>
              <a:rPr lang="pt-BR" altLang="pt-BR" sz="2000" dirty="0">
                <a:latin typeface="Google Sans Text"/>
              </a:rPr>
              <a:t>: Preservação do histórico de dados.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 startAt="2"/>
            </a:pPr>
            <a:r>
              <a:rPr lang="pt-BR" altLang="pt-BR" sz="2000" b="1" dirty="0">
                <a:latin typeface="Google Sans Text"/>
              </a:rPr>
              <a:t>Complexidade Espacial</a:t>
            </a:r>
            <a:r>
              <a:rPr lang="pt-BR" altLang="pt-BR" sz="2000" dirty="0">
                <a:latin typeface="Google Sans Text"/>
              </a:rPr>
              <a:t>: Economia de memória x velocidade de processamento.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 startAt="3"/>
            </a:pPr>
            <a:r>
              <a:rPr lang="pt-BR" altLang="pt-BR" sz="2000" b="1" dirty="0">
                <a:latin typeface="Google Sans Text"/>
              </a:rPr>
              <a:t>Sensibilidade Topológica</a:t>
            </a:r>
            <a:r>
              <a:rPr lang="pt-BR" altLang="pt-BR" sz="2000" dirty="0">
                <a:latin typeface="Google Sans Text"/>
              </a:rPr>
              <a:t>: Comportamento diante da ordenação prévia dos dados.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 startAt="3"/>
            </a:pPr>
            <a:endParaRPr lang="pt-BR" altLang="pt-BR" sz="2000" dirty="0">
              <a:latin typeface="Google Sans Text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AutoNum type="arabicPeriod" startAt="3"/>
            </a:pPr>
            <a:r>
              <a:rPr lang="pt-BR" altLang="pt-BR" sz="2400" b="1" dirty="0">
                <a:latin typeface="Google Sans Text"/>
              </a:rPr>
              <a:t>Síntese: </a:t>
            </a:r>
            <a:r>
              <a:rPr lang="pt-BR" altLang="pt-BR" sz="2400" dirty="0">
                <a:latin typeface="Google Sans Text"/>
              </a:rPr>
              <a:t>A análise formal de algoritmos é uma ferramenta pragmática e essencial para a construção de sistemas escaláveis e verdadeiramente otimizados.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B1E829A6-DEDD-FB0A-ECB6-BAFBC1D5E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860" y="1162843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Considerações Finais e Engenharia de Software</a:t>
            </a:r>
          </a:p>
        </p:txBody>
      </p:sp>
    </p:spTree>
    <p:extLst>
      <p:ext uri="{BB962C8B-B14F-4D97-AF65-F5344CB8AC3E}">
        <p14:creationId xmlns:p14="http://schemas.microsoft.com/office/powerpoint/2010/main" val="1586809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A821D-BC74-0BE1-5793-E8368901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43B0D5C-918C-B8C8-8634-C0FCAE5CA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398060"/>
          </a:xfrm>
          <a:prstGeom prst="rect">
            <a:avLst/>
          </a:prstGeom>
        </p:spPr>
      </p:pic>
      <p:grpSp>
        <p:nvGrpSpPr>
          <p:cNvPr id="10" name="Agrupar 9">
            <a:extLst>
              <a:ext uri="{FF2B5EF4-FFF2-40B4-BE49-F238E27FC236}">
                <a16:creationId xmlns:a16="http://schemas.microsoft.com/office/drawing/2014/main" id="{A4F59FC4-2E12-33ED-A58A-5185D4BC8404}"/>
              </a:ext>
            </a:extLst>
          </p:cNvPr>
          <p:cNvGrpSpPr/>
          <p:nvPr/>
        </p:nvGrpSpPr>
        <p:grpSpPr>
          <a:xfrm>
            <a:off x="4739781" y="3585812"/>
            <a:ext cx="7452219" cy="3272188"/>
            <a:chOff x="4739781" y="3585812"/>
            <a:chExt cx="7452219" cy="3272188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608A94F9-F378-AD3E-D4FB-AA7D21EC15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92514" y="4013377"/>
              <a:ext cx="6699486" cy="2844623"/>
            </a:xfrm>
            <a:prstGeom prst="rect">
              <a:avLst/>
            </a:prstGeom>
            <a:effectLst>
              <a:outerShdw blurRad="50800" dist="50800" dir="5400000" algn="ctr" rotWithShape="0">
                <a:srgbClr val="000000"/>
              </a:outerShdw>
            </a:effectLst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A16330DC-FCBB-A2F0-F258-A30C0D27D03E}"/>
                </a:ext>
              </a:extLst>
            </p:cNvPr>
            <p:cNvSpPr/>
            <p:nvPr/>
          </p:nvSpPr>
          <p:spPr>
            <a:xfrm>
              <a:off x="4739781" y="4013377"/>
              <a:ext cx="1104550" cy="284462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DBF0D5FF-EC27-7992-DBAF-8AD6C73A8A63}"/>
                </a:ext>
              </a:extLst>
            </p:cNvPr>
            <p:cNvSpPr/>
            <p:nvPr/>
          </p:nvSpPr>
          <p:spPr>
            <a:xfrm>
              <a:off x="5292056" y="3585812"/>
              <a:ext cx="4453856" cy="10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6" name="Título 1">
            <a:extLst>
              <a:ext uri="{FF2B5EF4-FFF2-40B4-BE49-F238E27FC236}">
                <a16:creationId xmlns:a16="http://schemas.microsoft.com/office/drawing/2014/main" id="{98D7BEA0-501A-4B28-448A-9B5431A2C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003" y="1026211"/>
            <a:ext cx="10515600" cy="1325563"/>
          </a:xfrm>
        </p:spPr>
        <p:txBody>
          <a:bodyPr>
            <a:normAutofit/>
          </a:bodyPr>
          <a:lstStyle/>
          <a:p>
            <a:r>
              <a:rPr lang="pt-BR" sz="2800" b="1" dirty="0">
                <a:latin typeface="+mn-lt"/>
              </a:rPr>
              <a:t>Referências</a:t>
            </a:r>
          </a:p>
        </p:txBody>
      </p:sp>
      <p:sp>
        <p:nvSpPr>
          <p:cNvPr id="2" name="Espaço Reservado para Conteúdo 1">
            <a:extLst>
              <a:ext uri="{FF2B5EF4-FFF2-40B4-BE49-F238E27FC236}">
                <a16:creationId xmlns:a16="http://schemas.microsoft.com/office/drawing/2014/main" id="{007345CD-40BF-AD9A-1C8D-BB16130D6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1686" y="2015733"/>
            <a:ext cx="8828469" cy="4351338"/>
          </a:xfrm>
        </p:spPr>
        <p:txBody>
          <a:bodyPr>
            <a:noAutofit/>
          </a:bodyPr>
          <a:lstStyle/>
          <a:p>
            <a:pPr marL="0" indent="0" algn="just">
              <a:spcAft>
                <a:spcPts val="1000"/>
              </a:spcAft>
              <a:buNone/>
            </a:pPr>
            <a:r>
              <a:rPr lang="pt-BR" sz="1700" dirty="0"/>
              <a:t>AMDAHL, Gene M. </a:t>
            </a:r>
            <a:r>
              <a:rPr lang="pt-BR" sz="1700" b="1" dirty="0" err="1"/>
              <a:t>Validity</a:t>
            </a:r>
            <a:r>
              <a:rPr lang="pt-BR" sz="1700" b="1" dirty="0"/>
              <a:t> </a:t>
            </a:r>
            <a:r>
              <a:rPr lang="pt-BR" sz="1700" b="1" dirty="0" err="1"/>
              <a:t>of</a:t>
            </a:r>
            <a:r>
              <a:rPr lang="pt-BR" sz="1700" b="1" dirty="0"/>
              <a:t> </a:t>
            </a:r>
            <a:r>
              <a:rPr lang="pt-BR" sz="1700" b="1" dirty="0" err="1"/>
              <a:t>the</a:t>
            </a:r>
            <a:r>
              <a:rPr lang="pt-BR" sz="1700" b="1" dirty="0"/>
              <a:t> single processor approach </a:t>
            </a:r>
            <a:r>
              <a:rPr lang="pt-BR" sz="1700" b="1" dirty="0" err="1"/>
              <a:t>to</a:t>
            </a:r>
            <a:r>
              <a:rPr lang="pt-BR" sz="1700" b="1" dirty="0"/>
              <a:t> </a:t>
            </a:r>
            <a:r>
              <a:rPr lang="pt-BR" sz="1700" b="1" dirty="0" err="1"/>
              <a:t>achieving</a:t>
            </a:r>
            <a:r>
              <a:rPr lang="pt-BR" sz="1700" b="1" dirty="0"/>
              <a:t> </a:t>
            </a:r>
            <a:r>
              <a:rPr lang="pt-BR" sz="1700" b="1" dirty="0" err="1"/>
              <a:t>large</a:t>
            </a:r>
            <a:r>
              <a:rPr lang="pt-BR" sz="1700" b="1" dirty="0"/>
              <a:t> </a:t>
            </a:r>
            <a:r>
              <a:rPr lang="pt-BR" sz="1700" b="1" dirty="0" err="1"/>
              <a:t>scale</a:t>
            </a:r>
            <a:r>
              <a:rPr lang="pt-BR" sz="1700" b="1" dirty="0"/>
              <a:t> </a:t>
            </a:r>
            <a:r>
              <a:rPr lang="pt-BR" sz="1700" b="1" dirty="0" err="1"/>
              <a:t>computing</a:t>
            </a:r>
            <a:r>
              <a:rPr lang="pt-BR" sz="1700" b="1" dirty="0"/>
              <a:t> </a:t>
            </a:r>
            <a:r>
              <a:rPr lang="pt-BR" sz="1700" b="1" dirty="0" err="1"/>
              <a:t>capabilities</a:t>
            </a:r>
            <a:r>
              <a:rPr lang="pt-BR" sz="1700" b="1" dirty="0"/>
              <a:t>.</a:t>
            </a:r>
            <a:r>
              <a:rPr lang="pt-BR" sz="1700" dirty="0"/>
              <a:t> In: </a:t>
            </a:r>
            <a:r>
              <a:rPr lang="pt-BR" sz="1700" dirty="0" err="1"/>
              <a:t>Proceedings</a:t>
            </a:r>
            <a:r>
              <a:rPr lang="pt-BR" sz="1700" dirty="0"/>
              <a:t> </a:t>
            </a:r>
            <a:r>
              <a:rPr lang="pt-BR" sz="1700" dirty="0" err="1"/>
              <a:t>of</a:t>
            </a:r>
            <a:r>
              <a:rPr lang="pt-BR" sz="1700" dirty="0"/>
              <a:t> </a:t>
            </a:r>
            <a:r>
              <a:rPr lang="pt-BR" sz="1700" dirty="0" err="1"/>
              <a:t>the</a:t>
            </a:r>
            <a:r>
              <a:rPr lang="pt-BR" sz="1700" dirty="0"/>
              <a:t> Spring Joint Computer </a:t>
            </a:r>
            <a:r>
              <a:rPr lang="pt-BR" sz="1700" dirty="0" err="1"/>
              <a:t>Conference</a:t>
            </a:r>
            <a:r>
              <a:rPr lang="pt-BR" sz="1700" dirty="0"/>
              <a:t>. AFIPS, 1967. p. 483–485.</a:t>
            </a:r>
          </a:p>
          <a:p>
            <a:pPr marL="0" indent="0" algn="just">
              <a:spcAft>
                <a:spcPts val="1000"/>
              </a:spcAft>
              <a:buNone/>
            </a:pPr>
            <a:r>
              <a:rPr lang="pt-BR" sz="1700" dirty="0"/>
              <a:t>ARAVARAVIND. WB </a:t>
            </a:r>
            <a:r>
              <a:rPr lang="pt-BR" sz="1700" b="1" dirty="0"/>
              <a:t>Commodity </a:t>
            </a:r>
            <a:r>
              <a:rPr lang="pt-BR" sz="1700" b="1" dirty="0" err="1"/>
              <a:t>Price</a:t>
            </a:r>
            <a:r>
              <a:rPr lang="pt-BR" sz="1700" b="1" dirty="0"/>
              <a:t> </a:t>
            </a:r>
            <a:r>
              <a:rPr lang="pt-BR" sz="1700" b="1" dirty="0" err="1"/>
              <a:t>Intelligence</a:t>
            </a:r>
            <a:r>
              <a:rPr lang="pt-BR" sz="1700" b="1" dirty="0"/>
              <a:t> (1960–2026). </a:t>
            </a:r>
            <a:r>
              <a:rPr lang="pt-BR" sz="1700" b="1" dirty="0" err="1"/>
              <a:t>Kaggle</a:t>
            </a:r>
            <a:r>
              <a:rPr lang="pt-BR" sz="1700" dirty="0"/>
              <a:t>, 2026. Disponível em:</a:t>
            </a:r>
            <a:r>
              <a:rPr lang="pt-BR" sz="1700" dirty="0">
                <a:hlinkClick r:id="rId4"/>
              </a:rPr>
              <a:t> </a:t>
            </a:r>
            <a:r>
              <a:rPr lang="pt-BR" sz="1700" u="sng" dirty="0">
                <a:hlinkClick r:id="rId4"/>
              </a:rPr>
              <a:t>https://www.kaggle.com/</a:t>
            </a:r>
            <a:r>
              <a:rPr lang="pt-BR" sz="1700" u="sng" dirty="0" err="1">
                <a:hlinkClick r:id="rId4"/>
              </a:rPr>
              <a:t>code</a:t>
            </a:r>
            <a:r>
              <a:rPr lang="pt-BR" sz="1700" u="sng" dirty="0">
                <a:hlinkClick r:id="rId4"/>
              </a:rPr>
              <a:t>/</a:t>
            </a:r>
            <a:r>
              <a:rPr lang="pt-BR" sz="1700" u="sng" dirty="0" err="1">
                <a:hlinkClick r:id="rId4"/>
              </a:rPr>
              <a:t>aravaravind</a:t>
            </a:r>
            <a:r>
              <a:rPr lang="pt-BR" sz="1700" u="sng" dirty="0">
                <a:hlinkClick r:id="rId4"/>
              </a:rPr>
              <a:t>/wb-commodity-price-intelligence-1960-2026</a:t>
            </a:r>
            <a:r>
              <a:rPr lang="pt-BR" sz="1700" dirty="0"/>
              <a:t>. Acesso em: 20 mar. 2026.</a:t>
            </a:r>
          </a:p>
          <a:p>
            <a:pPr marL="0" indent="0" algn="just">
              <a:spcAft>
                <a:spcPts val="1000"/>
              </a:spcAft>
              <a:buNone/>
            </a:pPr>
            <a:r>
              <a:rPr lang="pt-BR" sz="1700" dirty="0"/>
              <a:t>MOREIRA, Cândido. </a:t>
            </a:r>
            <a:r>
              <a:rPr lang="pt-BR" sz="1700" b="1" dirty="0"/>
              <a:t>Análise Experimental de Desempenho entre Árvores de Busca Binária (BST) e AVL com Dados de Commodities.</a:t>
            </a:r>
            <a:r>
              <a:rPr lang="pt-BR" sz="1700" dirty="0"/>
              <a:t> Repositório GitHub, 2026. Disponível em: </a:t>
            </a:r>
            <a:r>
              <a:rPr lang="pt-BR" sz="1700" u="sng" dirty="0">
                <a:hlinkClick r:id="rId5"/>
              </a:rPr>
              <a:t>https://github.com/</a:t>
            </a:r>
            <a:r>
              <a:rPr lang="pt-BR" sz="1700" u="sng" dirty="0" err="1">
                <a:hlinkClick r:id="rId5"/>
              </a:rPr>
              <a:t>candidomor</a:t>
            </a:r>
            <a:r>
              <a:rPr lang="pt-BR" sz="1700" u="sng" dirty="0">
                <a:hlinkClick r:id="rId5"/>
              </a:rPr>
              <a:t>/Mestrado-Algoritimos-Projeto2</a:t>
            </a:r>
            <a:r>
              <a:rPr lang="pt-BR" sz="1700" dirty="0"/>
              <a:t>. Acesso em: 29 mar. 2026.</a:t>
            </a:r>
          </a:p>
          <a:p>
            <a:pPr marL="0" indent="0" algn="just">
              <a:spcAft>
                <a:spcPts val="1000"/>
              </a:spcAft>
              <a:buNone/>
            </a:pPr>
            <a:r>
              <a:rPr lang="pt-BR" sz="1700" dirty="0"/>
              <a:t>CORMEN, Thomas H.; LEISERSON, Charles E.; RIVEST, Ronald L.; STEIN, Clifford. </a:t>
            </a:r>
            <a:r>
              <a:rPr lang="pt-BR" sz="1700" b="1" dirty="0"/>
              <a:t>Algoritmos: teoria e prática. </a:t>
            </a:r>
            <a:r>
              <a:rPr lang="pt-BR" sz="1700" dirty="0"/>
              <a:t>3. ed. Rio de Janeiro: Elsevier, 2012.</a:t>
            </a:r>
          </a:p>
          <a:p>
            <a:pPr marL="0" indent="0" algn="just">
              <a:spcAft>
                <a:spcPts val="1000"/>
              </a:spcAft>
              <a:buNone/>
            </a:pPr>
            <a:r>
              <a:rPr lang="pt-BR" sz="1700" dirty="0"/>
              <a:t>GOODRICH, Michael T.; TAMASSIA, Roberto; GOLDWASSER, Michael H. </a:t>
            </a:r>
            <a:r>
              <a:rPr lang="pt-BR" sz="1700" b="1" dirty="0"/>
              <a:t>Data </a:t>
            </a:r>
            <a:r>
              <a:rPr lang="pt-BR" sz="1700" b="1" dirty="0" err="1"/>
              <a:t>Structures</a:t>
            </a:r>
            <a:r>
              <a:rPr lang="pt-BR" sz="1700" b="1" dirty="0"/>
              <a:t> and </a:t>
            </a:r>
            <a:r>
              <a:rPr lang="pt-BR" sz="1700" b="1" dirty="0" err="1"/>
              <a:t>Algorithms</a:t>
            </a:r>
            <a:r>
              <a:rPr lang="pt-BR" sz="1700" b="1" dirty="0"/>
              <a:t> in Python</a:t>
            </a:r>
            <a:r>
              <a:rPr lang="pt-BR" sz="1700" dirty="0"/>
              <a:t>. </a:t>
            </a:r>
            <a:r>
              <a:rPr lang="pt-BR" sz="1700" dirty="0" err="1"/>
              <a:t>Hoboken</a:t>
            </a:r>
            <a:r>
              <a:rPr lang="pt-BR" sz="1700" dirty="0"/>
              <a:t>: </a:t>
            </a:r>
            <a:r>
              <a:rPr lang="pt-BR" sz="1700" dirty="0" err="1"/>
              <a:t>Wiley</a:t>
            </a:r>
            <a:r>
              <a:rPr lang="pt-BR" sz="1700" dirty="0"/>
              <a:t>, 2013.</a:t>
            </a:r>
          </a:p>
          <a:p>
            <a:pPr marL="0" indent="0" algn="just">
              <a:spcAft>
                <a:spcPts val="1000"/>
              </a:spcAft>
              <a:buNone/>
            </a:pPr>
            <a:r>
              <a:rPr lang="pt-BR" sz="1700" dirty="0"/>
              <a:t>SILBERSCHATZ, Abraham; KORTH, Henry F.; SUDARSHAN, S</a:t>
            </a:r>
            <a:r>
              <a:rPr lang="pt-BR" sz="1700" b="1" dirty="0"/>
              <a:t>. Sistema de banco de dados. </a:t>
            </a:r>
            <a:r>
              <a:rPr lang="pt-BR" sz="1700" dirty="0"/>
              <a:t>6. ed. Rio de Janeiro: Elsevier, 2012.</a:t>
            </a:r>
          </a:p>
        </p:txBody>
      </p:sp>
    </p:spTree>
    <p:extLst>
      <p:ext uri="{BB962C8B-B14F-4D97-AF65-F5344CB8AC3E}">
        <p14:creationId xmlns:p14="http://schemas.microsoft.com/office/powerpoint/2010/main" val="218384821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1559</TotalTime>
  <Words>992</Words>
  <Application>Microsoft Office PowerPoint</Application>
  <PresentationFormat>Widescreen</PresentationFormat>
  <Paragraphs>95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Google Sans Text</vt:lpstr>
      <vt:lpstr>Times New Roman</vt:lpstr>
      <vt:lpstr>Tema do Office</vt:lpstr>
      <vt:lpstr>   </vt:lpstr>
      <vt:lpstr>Projeto 02 – Comparação entre Árvores</vt:lpstr>
      <vt:lpstr>Metodologia Experimental</vt:lpstr>
      <vt:lpstr>Metodologia Experimental</vt:lpstr>
      <vt:lpstr>Resultados</vt:lpstr>
      <vt:lpstr>Apresentação do PowerPoint</vt:lpstr>
      <vt:lpstr>Apresentação do PowerPoint</vt:lpstr>
      <vt:lpstr>Árvore AVL e o Gargalo do Paralelismo</vt:lpstr>
      <vt:lpstr>A Árvore BST e a Volatilidade Estrutural</vt:lpstr>
      <vt:lpstr>Apresentação do PowerPoint</vt:lpstr>
      <vt:lpstr>Análise Assintótica e a Lei de Amdahl </vt:lpstr>
      <vt:lpstr>Apresentação do PowerPoint</vt:lpstr>
      <vt:lpstr>O Desafio da Busca por Atributos Secundários</vt:lpstr>
      <vt:lpstr>Considerações Finais e Engenharia de Software</vt:lpstr>
      <vt:lpstr>Referências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Cândido Moreira</dc:creator>
  <cp:lastModifiedBy>Cândido Francisco Moreira</cp:lastModifiedBy>
  <cp:revision>13</cp:revision>
  <dcterms:created xsi:type="dcterms:W3CDTF">2026-03-08T20:43:30Z</dcterms:created>
  <dcterms:modified xsi:type="dcterms:W3CDTF">2026-04-06T22:27:50Z</dcterms:modified>
</cp:coreProperties>
</file>